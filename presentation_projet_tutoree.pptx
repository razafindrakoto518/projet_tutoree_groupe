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ov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89CDC8B-D336-4A43-8436-3340C366968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Salama eh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42D11E0-A96B-4EB7-93DD-2C85C011BF0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85E75F4-7B79-4447-B281-27B963C1E74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dsdsdsdsdsdsdsdrgrgfgfgfg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F619E7C-1E06-47DD-A49C-C636A49FBBE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C90566E-4877-449D-9C14-A5D701CA11A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A63D6C1-052C-4E6F-BA8F-F81BD3A0348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C5D438D-CD39-491A-B54A-343B4B4F210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7D7ADCD-9DEB-4D3B-A99D-97D6105E217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2EB3C3B-9A06-4966-B2F6-C95C948D245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dfdfdfffffffffffffffffffffffffffffffffffffffffffffffffffffffffffffffffffffffffffffffffffffffffffffffffffffffffffffffffffffffffffffffffffffffffffffffffffffffffffffffffffffffffffffffffffffffffffffffffffffffff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D20D096-708C-4A5D-981E-A7113280226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0" y="0"/>
            <a:ext cx="162720" cy="5141880"/>
          </a:xfrm>
          <a:prstGeom prst="rect">
            <a:avLst/>
          </a:prstGeom>
          <a:solidFill>
            <a:srgbClr val="4fc3f7"/>
          </a:solidFill>
          <a:ln w="126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5943600" y="-1097280"/>
            <a:ext cx="5027400" cy="5027400"/>
          </a:xfrm>
          <a:prstGeom prst="ellipse">
            <a:avLst/>
          </a:prstGeom>
          <a:solidFill>
            <a:srgbClr val="ffffff">
              <a:alpha val="8000"/>
            </a:srgbClr>
          </a:solidFill>
          <a:ln w="12600">
            <a:solidFill>
              <a:srgbClr val="ffffff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" name="Shape 2"/>
          <p:cNvSpPr/>
          <p:nvPr/>
        </p:nvSpPr>
        <p:spPr>
          <a:xfrm>
            <a:off x="6583680" y="-457200"/>
            <a:ext cx="3838680" cy="38386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600">
            <a:solidFill>
              <a:srgbClr val="fffff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" name="Shape 3"/>
          <p:cNvSpPr/>
          <p:nvPr/>
        </p:nvSpPr>
        <p:spPr>
          <a:xfrm>
            <a:off x="502920" y="914400"/>
            <a:ext cx="2009880" cy="290880"/>
          </a:xfrm>
          <a:prstGeom prst="rect">
            <a:avLst/>
          </a:prstGeom>
          <a:solidFill>
            <a:srgbClr val="4fc3f7"/>
          </a:solidFill>
          <a:ln w="126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" name="Text 4"/>
          <p:cNvSpPr/>
          <p:nvPr/>
        </p:nvSpPr>
        <p:spPr>
          <a:xfrm>
            <a:off x="502920" y="914400"/>
            <a:ext cx="20098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1e2761"/>
                </a:solidFill>
                <a:latin typeface="Calibri"/>
                <a:ea typeface="DejaVu Sans"/>
              </a:rPr>
              <a:t>PROJET TUTOREE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493200" y="1453320"/>
            <a:ext cx="7770600" cy="16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  <a:ea typeface="Calibri"/>
              </a:rPr>
              <a:t>Système de Gestion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  <a:ea typeface="Calibri"/>
              </a:rPr>
              <a:t>Bibliothèque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6"/>
          <p:cNvSpPr/>
          <p:nvPr/>
        </p:nvSpPr>
        <p:spPr>
          <a:xfrm>
            <a:off x="502920" y="3154680"/>
            <a:ext cx="685620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cadcfc"/>
                </a:solidFill>
                <a:latin typeface="Calibri"/>
                <a:ea typeface="Calibri"/>
              </a:rPr>
              <a:t>Une solution numérique moderne pour optimiser les opérations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cadcfc"/>
                </a:solidFill>
                <a:latin typeface="Calibri"/>
                <a:ea typeface="Calibri"/>
              </a:rPr>
              <a:t>et améliorer l'expérience utilisateur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7"/>
          <p:cNvSpPr/>
          <p:nvPr/>
        </p:nvSpPr>
        <p:spPr>
          <a:xfrm>
            <a:off x="0" y="4526280"/>
            <a:ext cx="9142200" cy="615600"/>
          </a:xfrm>
          <a:prstGeom prst="rect">
            <a:avLst/>
          </a:prstGeom>
          <a:solidFill>
            <a:srgbClr val="0d1b4b"/>
          </a:solidFill>
          <a:ln w="12600">
            <a:solidFill>
              <a:srgbClr val="0d1b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0" name="Text 8"/>
          <p:cNvSpPr/>
          <p:nvPr/>
        </p:nvSpPr>
        <p:spPr>
          <a:xfrm>
            <a:off x="457200" y="4526280"/>
            <a:ext cx="8227800" cy="61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fc3f7"/>
                </a:solidFill>
                <a:latin typeface="Calibri"/>
                <a:ea typeface="DejaVu Sans"/>
              </a:rPr>
              <a:t> </a:t>
            </a:r>
            <a:r>
              <a:rPr b="0" lang="en-US" sz="1100" spc="-1" strike="noStrike">
                <a:solidFill>
                  <a:srgbClr val="cadcfc"/>
                </a:solidFill>
                <a:latin typeface="Calibri"/>
                <a:ea typeface="DejaVu Sans"/>
              </a:rPr>
              <a:t>Mai 2026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6172200" y="2514600"/>
            <a:ext cx="2513160" cy="227160"/>
          </a:xfrm>
          <a:prstGeom prst="rect">
            <a:avLst/>
          </a:prstGeom>
          <a:solidFill>
            <a:srgbClr val="355269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LibManager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" name="" descr=""/>
          <p:cNvPicPr/>
          <p:nvPr/>
        </p:nvPicPr>
        <p:blipFill>
          <a:blip r:embed="rId1"/>
          <a:stretch/>
        </p:blipFill>
        <p:spPr>
          <a:xfrm>
            <a:off x="6858000" y="1295640"/>
            <a:ext cx="988920" cy="98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/>
          <p:cNvSpPr/>
          <p:nvPr/>
        </p:nvSpPr>
        <p:spPr>
          <a:xfrm>
            <a:off x="0" y="0"/>
            <a:ext cx="9142200" cy="775440"/>
          </a:xfrm>
          <a:prstGeom prst="rect">
            <a:avLst/>
          </a:prstGeom>
          <a:solidFill>
            <a:srgbClr val="1e2761"/>
          </a:solidFill>
          <a:ln w="126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4" name="Text 1"/>
          <p:cNvSpPr/>
          <p:nvPr/>
        </p:nvSpPr>
        <p:spPr>
          <a:xfrm>
            <a:off x="365760" y="0"/>
            <a:ext cx="822780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DejaVu Sans"/>
              </a:rPr>
              <a:t>SOMMAIRE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2"/>
          <p:cNvSpPr/>
          <p:nvPr/>
        </p:nvSpPr>
        <p:spPr>
          <a:xfrm>
            <a:off x="365760" y="1005840"/>
            <a:ext cx="4113000" cy="91260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50760" dir="8100000" dist="25455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" name="Shape 3"/>
          <p:cNvSpPr/>
          <p:nvPr/>
        </p:nvSpPr>
        <p:spPr>
          <a:xfrm>
            <a:off x="365760" y="1005840"/>
            <a:ext cx="62280" cy="912600"/>
          </a:xfrm>
          <a:prstGeom prst="rect">
            <a:avLst/>
          </a:prstGeom>
          <a:solidFill>
            <a:srgbClr val="4fc3f7"/>
          </a:solidFill>
          <a:ln w="126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" name="Text 4"/>
          <p:cNvSpPr/>
          <p:nvPr/>
        </p:nvSpPr>
        <p:spPr>
          <a:xfrm>
            <a:off x="475560" y="1005840"/>
            <a:ext cx="6382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4fc3f7"/>
                </a:solidFill>
                <a:latin typeface="Calibri"/>
                <a:ea typeface="DejaVu Sans"/>
              </a:rPr>
              <a:t>01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1143000" y="1005840"/>
            <a:ext cx="31986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DejaVu Sans"/>
              </a:rPr>
              <a:t>Contexte &amp; Problématique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6"/>
          <p:cNvSpPr/>
          <p:nvPr/>
        </p:nvSpPr>
        <p:spPr>
          <a:xfrm>
            <a:off x="365760" y="2194560"/>
            <a:ext cx="4113000" cy="91260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50760" dir="8100000" dist="25455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" name="Shape 7"/>
          <p:cNvSpPr/>
          <p:nvPr/>
        </p:nvSpPr>
        <p:spPr>
          <a:xfrm>
            <a:off x="365760" y="2194560"/>
            <a:ext cx="62280" cy="912600"/>
          </a:xfrm>
          <a:prstGeom prst="rect">
            <a:avLst/>
          </a:prstGeom>
          <a:solidFill>
            <a:srgbClr val="22c55e"/>
          </a:solidFill>
          <a:ln w="126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" name="Text 8"/>
          <p:cNvSpPr/>
          <p:nvPr/>
        </p:nvSpPr>
        <p:spPr>
          <a:xfrm>
            <a:off x="475560" y="2194560"/>
            <a:ext cx="6382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22c55e"/>
                </a:solidFill>
                <a:latin typeface="Calibri"/>
                <a:ea typeface="DejaVu Sans"/>
              </a:rPr>
              <a:t>02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9"/>
          <p:cNvSpPr/>
          <p:nvPr/>
        </p:nvSpPr>
        <p:spPr>
          <a:xfrm>
            <a:off x="1179000" y="2194560"/>
            <a:ext cx="31986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DejaVu Sans"/>
              </a:rPr>
              <a:t>Objectifs du Projet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0"/>
          <p:cNvSpPr/>
          <p:nvPr/>
        </p:nvSpPr>
        <p:spPr>
          <a:xfrm>
            <a:off x="365760" y="3383280"/>
            <a:ext cx="4113000" cy="91260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50760" dir="8100000" dist="25455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4" name="Shape 11"/>
          <p:cNvSpPr/>
          <p:nvPr/>
        </p:nvSpPr>
        <p:spPr>
          <a:xfrm>
            <a:off x="365760" y="3383280"/>
            <a:ext cx="62280" cy="912600"/>
          </a:xfrm>
          <a:prstGeom prst="rect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5" name="Text 12"/>
          <p:cNvSpPr/>
          <p:nvPr/>
        </p:nvSpPr>
        <p:spPr>
          <a:xfrm>
            <a:off x="475560" y="3383280"/>
            <a:ext cx="6382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59e0b"/>
                </a:solidFill>
                <a:latin typeface="Calibri"/>
                <a:ea typeface="DejaVu Sans"/>
              </a:rPr>
              <a:t>03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3"/>
          <p:cNvSpPr/>
          <p:nvPr/>
        </p:nvSpPr>
        <p:spPr>
          <a:xfrm>
            <a:off x="1143000" y="3383280"/>
            <a:ext cx="31986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DejaVu Sans"/>
              </a:rPr>
              <a:t>Architecture Technique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14"/>
          <p:cNvSpPr/>
          <p:nvPr/>
        </p:nvSpPr>
        <p:spPr>
          <a:xfrm>
            <a:off x="4846320" y="1005840"/>
            <a:ext cx="4113000" cy="91260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50760" dir="8100000" dist="25455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4846320" y="1005840"/>
            <a:ext cx="62280" cy="912600"/>
          </a:xfrm>
          <a:prstGeom prst="rect">
            <a:avLst/>
          </a:prstGeom>
          <a:solidFill>
            <a:srgbClr val="ef4444"/>
          </a:solidFill>
          <a:ln w="126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9" name="Text 16"/>
          <p:cNvSpPr/>
          <p:nvPr/>
        </p:nvSpPr>
        <p:spPr>
          <a:xfrm>
            <a:off x="4956120" y="1005840"/>
            <a:ext cx="6382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f4444"/>
                </a:solidFill>
                <a:latin typeface="Calibri"/>
                <a:ea typeface="DejaVu Sans"/>
              </a:rPr>
              <a:t>04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7"/>
          <p:cNvSpPr/>
          <p:nvPr/>
        </p:nvSpPr>
        <p:spPr>
          <a:xfrm>
            <a:off x="5623560" y="1005840"/>
            <a:ext cx="31986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DejaVu Sans"/>
              </a:rPr>
              <a:t>Démonstrations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19"/>
          <p:cNvSpPr/>
          <p:nvPr/>
        </p:nvSpPr>
        <p:spPr>
          <a:xfrm>
            <a:off x="4846320" y="2194560"/>
            <a:ext cx="62280" cy="912600"/>
          </a:xfrm>
          <a:prstGeom prst="rect">
            <a:avLst/>
          </a:prstGeom>
          <a:solidFill>
            <a:srgbClr val="9333ea"/>
          </a:solidFill>
          <a:ln w="12600">
            <a:solidFill>
              <a:srgbClr val="933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2" name="Text 20"/>
          <p:cNvSpPr/>
          <p:nvPr/>
        </p:nvSpPr>
        <p:spPr>
          <a:xfrm>
            <a:off x="4956120" y="2194560"/>
            <a:ext cx="6382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9333ea"/>
                </a:solidFill>
                <a:latin typeface="Calibri"/>
                <a:ea typeface="DejaVu Sans"/>
              </a:rPr>
              <a:t>05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21"/>
          <p:cNvSpPr/>
          <p:nvPr/>
        </p:nvSpPr>
        <p:spPr>
          <a:xfrm>
            <a:off x="5623560" y="2194560"/>
            <a:ext cx="31986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DejaVu Sans"/>
              </a:rPr>
              <a:t>Point fort et point faible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22"/>
          <p:cNvSpPr/>
          <p:nvPr/>
        </p:nvSpPr>
        <p:spPr>
          <a:xfrm>
            <a:off x="4846320" y="3383280"/>
            <a:ext cx="4113000" cy="91260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50760" dir="8100000" dist="25455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" name="Shape 23"/>
          <p:cNvSpPr/>
          <p:nvPr/>
        </p:nvSpPr>
        <p:spPr>
          <a:xfrm>
            <a:off x="4846320" y="3383280"/>
            <a:ext cx="62280" cy="912600"/>
          </a:xfrm>
          <a:prstGeom prst="rect">
            <a:avLst/>
          </a:prstGeom>
          <a:solidFill>
            <a:srgbClr val="1e2761"/>
          </a:solidFill>
          <a:ln w="126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6" name="Text 24"/>
          <p:cNvSpPr/>
          <p:nvPr/>
        </p:nvSpPr>
        <p:spPr>
          <a:xfrm>
            <a:off x="4956120" y="3383280"/>
            <a:ext cx="6382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e2761"/>
                </a:solidFill>
                <a:latin typeface="Calibri"/>
                <a:ea typeface="DejaVu Sans"/>
              </a:rPr>
              <a:t>06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25"/>
          <p:cNvSpPr/>
          <p:nvPr/>
        </p:nvSpPr>
        <p:spPr>
          <a:xfrm>
            <a:off x="5623560" y="3383280"/>
            <a:ext cx="31986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761"/>
                </a:solidFill>
                <a:latin typeface="Calibri"/>
                <a:ea typeface="DejaVu Sans"/>
              </a:rPr>
              <a:t>Conclusion &amp; Prochaines Étapes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0" y="0"/>
            <a:ext cx="9142200" cy="775440"/>
          </a:xfrm>
          <a:prstGeom prst="rect">
            <a:avLst/>
          </a:prstGeom>
          <a:solidFill>
            <a:srgbClr val="1e2761"/>
          </a:solidFill>
          <a:ln w="126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9" name="Text 1"/>
          <p:cNvSpPr/>
          <p:nvPr/>
        </p:nvSpPr>
        <p:spPr>
          <a:xfrm>
            <a:off x="365760" y="0"/>
            <a:ext cx="822780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01  |  Contexte &amp; Problématique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274320" y="914400"/>
            <a:ext cx="41130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fc3f7"/>
                </a:solidFill>
                <a:latin typeface="Calibri"/>
                <a:ea typeface="DejaVu Sans"/>
              </a:rPr>
              <a:t>CONTEXTE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4"/>
          <p:cNvSpPr/>
          <p:nvPr/>
        </p:nvSpPr>
        <p:spPr>
          <a:xfrm>
            <a:off x="483480" y="1417320"/>
            <a:ext cx="3838680" cy="30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374151"/>
                </a:solidFill>
                <a:latin typeface="Calibri"/>
                <a:ea typeface="Noto Sans CJK SC"/>
              </a:rPr>
              <a:t>Dans le cadre de la modernisation des bibliothèques, la gestion manuelle des livres et des emprunts devient de plus en plus difficile.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374151"/>
                </a:solidFill>
                <a:latin typeface="Calibri"/>
                <a:ea typeface="Noto Sans CJK SC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2286000" y="2286000"/>
            <a:ext cx="4113360" cy="912960"/>
          </a:xfrm>
          <a:prstGeom prst="rect">
            <a:avLst/>
          </a:prstGeom>
          <a:solidFill>
            <a:srgbClr val="102c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Quelle problème l’appication résout-elle 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2286000" y="3429000"/>
            <a:ext cx="4113360" cy="912960"/>
          </a:xfrm>
          <a:prstGeom prst="rect">
            <a:avLst/>
          </a:prstGeom>
          <a:solidFill>
            <a:srgbClr val="102c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Pourquoi ce projet 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9142200" cy="775440"/>
          </a:xfrm>
          <a:prstGeom prst="rect">
            <a:avLst/>
          </a:prstGeom>
          <a:solidFill>
            <a:srgbClr val="1e2761"/>
          </a:solidFill>
          <a:ln w="126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5" name="Text 1"/>
          <p:cNvSpPr/>
          <p:nvPr/>
        </p:nvSpPr>
        <p:spPr>
          <a:xfrm>
            <a:off x="365760" y="0"/>
            <a:ext cx="822780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02  |  Objectifs du Projet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274320" y="960120"/>
            <a:ext cx="4158720" cy="173556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63360" dir="8100000" dist="25455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274320" y="960120"/>
            <a:ext cx="4158720" cy="62280"/>
          </a:xfrm>
          <a:prstGeom prst="rect">
            <a:avLst/>
          </a:prstGeom>
          <a:solidFill>
            <a:srgbClr val="4fc3f7"/>
          </a:solidFill>
          <a:ln w="126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8" name="Shape 4"/>
          <p:cNvSpPr/>
          <p:nvPr/>
        </p:nvSpPr>
        <p:spPr>
          <a:xfrm>
            <a:off x="457200" y="1188720"/>
            <a:ext cx="592560" cy="592560"/>
          </a:xfrm>
          <a:prstGeom prst="ellipse">
            <a:avLst/>
          </a:prstGeom>
          <a:solidFill>
            <a:srgbClr val="4fc3f7">
              <a:alpha val="15000"/>
            </a:srgbClr>
          </a:solidFill>
          <a:ln w="12600">
            <a:solidFill>
              <a:srgbClr val="4fc3f7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9" name="Text 5"/>
          <p:cNvSpPr/>
          <p:nvPr/>
        </p:nvSpPr>
        <p:spPr>
          <a:xfrm>
            <a:off x="457200" y="1188720"/>
            <a:ext cx="59256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🗄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6"/>
          <p:cNvSpPr/>
          <p:nvPr/>
        </p:nvSpPr>
        <p:spPr>
          <a:xfrm>
            <a:off x="1170360" y="1097280"/>
            <a:ext cx="3107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4fc3f7"/>
                </a:solidFill>
                <a:latin typeface="Calibri"/>
                <a:ea typeface="DejaVu Sans"/>
              </a:rPr>
              <a:t>Objectif 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7"/>
          <p:cNvSpPr/>
          <p:nvPr/>
        </p:nvSpPr>
        <p:spPr>
          <a:xfrm>
            <a:off x="1170360" y="1371600"/>
            <a:ext cx="3107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DejaVu Sans"/>
              </a:rPr>
              <a:t>Modérnisation , numérisation et centralisation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8"/>
          <p:cNvSpPr/>
          <p:nvPr/>
        </p:nvSpPr>
        <p:spPr>
          <a:xfrm>
            <a:off x="457200" y="1965960"/>
            <a:ext cx="3747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DejaVu Sans"/>
              </a:rPr>
              <a:t>Créer une base de données unique et fiable, accessible à tous les services en temps réel, modérniser et numériser les activités au sein de la bibliothèque.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9"/>
          <p:cNvSpPr/>
          <p:nvPr/>
        </p:nvSpPr>
        <p:spPr>
          <a:xfrm>
            <a:off x="4754880" y="960120"/>
            <a:ext cx="4158720" cy="173556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63360" dir="8100000" dist="25455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4" name="Shape 10"/>
          <p:cNvSpPr/>
          <p:nvPr/>
        </p:nvSpPr>
        <p:spPr>
          <a:xfrm>
            <a:off x="4754880" y="960120"/>
            <a:ext cx="4158720" cy="62280"/>
          </a:xfrm>
          <a:prstGeom prst="rect">
            <a:avLst/>
          </a:prstGeom>
          <a:solidFill>
            <a:srgbClr val="22c55e"/>
          </a:solidFill>
          <a:ln w="126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5" name="Shape 11"/>
          <p:cNvSpPr/>
          <p:nvPr/>
        </p:nvSpPr>
        <p:spPr>
          <a:xfrm>
            <a:off x="4937760" y="1188720"/>
            <a:ext cx="592560" cy="592560"/>
          </a:xfrm>
          <a:prstGeom prst="ellipse">
            <a:avLst/>
          </a:prstGeom>
          <a:solidFill>
            <a:srgbClr val="22c55e">
              <a:alpha val="15000"/>
            </a:srgbClr>
          </a:solidFill>
          <a:ln w="12600">
            <a:solidFill>
              <a:srgbClr val="22c55e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6" name="Text 12"/>
          <p:cNvSpPr/>
          <p:nvPr/>
        </p:nvSpPr>
        <p:spPr>
          <a:xfrm>
            <a:off x="4937760" y="1188720"/>
            <a:ext cx="59256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⚙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3"/>
          <p:cNvSpPr/>
          <p:nvPr/>
        </p:nvSpPr>
        <p:spPr>
          <a:xfrm>
            <a:off x="5650920" y="1097280"/>
            <a:ext cx="3107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22c55e"/>
                </a:solidFill>
                <a:latin typeface="Calibri"/>
                <a:ea typeface="DejaVu Sans"/>
              </a:rPr>
              <a:t>Objectif 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4"/>
          <p:cNvSpPr/>
          <p:nvPr/>
        </p:nvSpPr>
        <p:spPr>
          <a:xfrm>
            <a:off x="5650920" y="1371600"/>
            <a:ext cx="3107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DejaVu Sans"/>
              </a:rPr>
              <a:t>Automatiser les processus / Faciliter le travail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5"/>
          <p:cNvSpPr/>
          <p:nvPr/>
        </p:nvSpPr>
        <p:spPr>
          <a:xfrm>
            <a:off x="4937760" y="1965960"/>
            <a:ext cx="3747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DejaVu Sans"/>
              </a:rPr>
              <a:t>Réduire les tâches manuelles répétitives , envoie d’un email de rappel et notification automatisé.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6"/>
          <p:cNvSpPr/>
          <p:nvPr/>
        </p:nvSpPr>
        <p:spPr>
          <a:xfrm>
            <a:off x="274320" y="2926080"/>
            <a:ext cx="4158720" cy="173556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63360" dir="8100000" dist="25455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1" name="Shape 17"/>
          <p:cNvSpPr/>
          <p:nvPr/>
        </p:nvSpPr>
        <p:spPr>
          <a:xfrm>
            <a:off x="274320" y="2926080"/>
            <a:ext cx="4158720" cy="62280"/>
          </a:xfrm>
          <a:prstGeom prst="rect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2" name="Shape 18"/>
          <p:cNvSpPr/>
          <p:nvPr/>
        </p:nvSpPr>
        <p:spPr>
          <a:xfrm>
            <a:off x="457200" y="3154680"/>
            <a:ext cx="592560" cy="592560"/>
          </a:xfrm>
          <a:prstGeom prst="ellipse">
            <a:avLst/>
          </a:prstGeom>
          <a:solidFill>
            <a:srgbClr val="f59e0b">
              <a:alpha val="15000"/>
            </a:srgbClr>
          </a:solidFill>
          <a:ln w="12600">
            <a:solidFill>
              <a:srgbClr val="f59e0b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3" name="Text 19"/>
          <p:cNvSpPr/>
          <p:nvPr/>
        </p:nvSpPr>
        <p:spPr>
          <a:xfrm>
            <a:off x="457200" y="3154680"/>
            <a:ext cx="59256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📈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20"/>
          <p:cNvSpPr/>
          <p:nvPr/>
        </p:nvSpPr>
        <p:spPr>
          <a:xfrm>
            <a:off x="1170360" y="3063240"/>
            <a:ext cx="3107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59e0b"/>
                </a:solidFill>
                <a:latin typeface="Calibri"/>
                <a:ea typeface="DejaVu Sans"/>
              </a:rPr>
              <a:t>Objectif 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21"/>
          <p:cNvSpPr/>
          <p:nvPr/>
        </p:nvSpPr>
        <p:spPr>
          <a:xfrm>
            <a:off x="1170360" y="3337560"/>
            <a:ext cx="3107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DejaVu Sans"/>
              </a:rPr>
              <a:t>Eviter les pertes d’informations / erreurs de gestion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22"/>
          <p:cNvSpPr/>
          <p:nvPr/>
        </p:nvSpPr>
        <p:spPr>
          <a:xfrm>
            <a:off x="457200" y="3931920"/>
            <a:ext cx="3747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DejaVu Sans"/>
              </a:rPr>
              <a:t>Grâçe à une base de données centraliser toutes les informations sont enregistrés et bien protégés.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3"/>
          <p:cNvSpPr/>
          <p:nvPr/>
        </p:nvSpPr>
        <p:spPr>
          <a:xfrm>
            <a:off x="4754880" y="2926080"/>
            <a:ext cx="4158720" cy="173556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  <a:effectLst>
            <a:outerShdw blurRad="63360" dir="8100000" dist="25455" rotWithShape="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8" name="Shape 24"/>
          <p:cNvSpPr/>
          <p:nvPr/>
        </p:nvSpPr>
        <p:spPr>
          <a:xfrm>
            <a:off x="4754880" y="2926080"/>
            <a:ext cx="4158720" cy="62280"/>
          </a:xfrm>
          <a:prstGeom prst="rect">
            <a:avLst/>
          </a:prstGeom>
          <a:solidFill>
            <a:srgbClr val="ef4444"/>
          </a:solidFill>
          <a:ln w="126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9" name="Shape 25"/>
          <p:cNvSpPr/>
          <p:nvPr/>
        </p:nvSpPr>
        <p:spPr>
          <a:xfrm>
            <a:off x="4937760" y="3154680"/>
            <a:ext cx="592560" cy="592560"/>
          </a:xfrm>
          <a:prstGeom prst="ellipse">
            <a:avLst/>
          </a:prstGeom>
          <a:solidFill>
            <a:srgbClr val="ef4444">
              <a:alpha val="15000"/>
            </a:srgbClr>
          </a:solidFill>
          <a:ln w="12600">
            <a:solidFill>
              <a:srgbClr val="ef4444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0" name="Text 26"/>
          <p:cNvSpPr/>
          <p:nvPr/>
        </p:nvSpPr>
        <p:spPr>
          <a:xfrm>
            <a:off x="4937760" y="3154680"/>
            <a:ext cx="59256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🔒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27"/>
          <p:cNvSpPr/>
          <p:nvPr/>
        </p:nvSpPr>
        <p:spPr>
          <a:xfrm>
            <a:off x="5650920" y="3063240"/>
            <a:ext cx="3107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ef4444"/>
                </a:solidFill>
                <a:latin typeface="Calibri"/>
                <a:ea typeface="DejaVu Sans"/>
              </a:rPr>
              <a:t>Objectif 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28"/>
          <p:cNvSpPr/>
          <p:nvPr/>
        </p:nvSpPr>
        <p:spPr>
          <a:xfrm>
            <a:off x="5650920" y="3337560"/>
            <a:ext cx="3107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DejaVu Sans"/>
              </a:rPr>
              <a:t>Sécuriser les accès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29"/>
          <p:cNvSpPr/>
          <p:nvPr/>
        </p:nvSpPr>
        <p:spPr>
          <a:xfrm>
            <a:off x="4937760" y="3931920"/>
            <a:ext cx="3747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0"/>
          <p:cNvSpPr/>
          <p:nvPr/>
        </p:nvSpPr>
        <p:spPr>
          <a:xfrm>
            <a:off x="0" y="0"/>
            <a:ext cx="9142200" cy="775440"/>
          </a:xfrm>
          <a:prstGeom prst="rect">
            <a:avLst/>
          </a:prstGeom>
          <a:solidFill>
            <a:srgbClr val="1e2761"/>
          </a:solidFill>
          <a:ln w="126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5" name="Text 1"/>
          <p:cNvSpPr/>
          <p:nvPr/>
        </p:nvSpPr>
        <p:spPr>
          <a:xfrm>
            <a:off x="365760" y="0"/>
            <a:ext cx="822780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03  |  Architecture Technique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2"/>
          <p:cNvSpPr/>
          <p:nvPr/>
        </p:nvSpPr>
        <p:spPr>
          <a:xfrm>
            <a:off x="320040" y="960120"/>
            <a:ext cx="8502120" cy="684000"/>
          </a:xfrm>
          <a:prstGeom prst="rect">
            <a:avLst/>
          </a:prstGeom>
          <a:solidFill>
            <a:srgbClr val="4fc3f7">
              <a:alpha val="10000"/>
            </a:srgbClr>
          </a:solidFill>
          <a:ln w="12600">
            <a:solidFill>
              <a:srgbClr val="4fc3f7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7" name="Shape 3"/>
          <p:cNvSpPr/>
          <p:nvPr/>
        </p:nvSpPr>
        <p:spPr>
          <a:xfrm>
            <a:off x="320040" y="960120"/>
            <a:ext cx="52920" cy="684000"/>
          </a:xfrm>
          <a:prstGeom prst="rect">
            <a:avLst/>
          </a:prstGeom>
          <a:solidFill>
            <a:srgbClr val="4fc3f7"/>
          </a:solidFill>
          <a:ln w="126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8" name="Text 4"/>
          <p:cNvSpPr/>
          <p:nvPr/>
        </p:nvSpPr>
        <p:spPr>
          <a:xfrm>
            <a:off x="502920" y="960120"/>
            <a:ext cx="2009880" cy="6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fc3f7"/>
                </a:solidFill>
                <a:latin typeface="Calibri"/>
                <a:ea typeface="DejaVu Sans"/>
              </a:rPr>
              <a:t>FRONTEND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5"/>
          <p:cNvSpPr/>
          <p:nvPr/>
        </p:nvSpPr>
        <p:spPr>
          <a:xfrm>
            <a:off x="2560320" y="960120"/>
            <a:ext cx="6124680" cy="6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761"/>
                </a:solidFill>
                <a:latin typeface="Calibri"/>
                <a:ea typeface="DejaVu Sans"/>
              </a:rPr>
              <a:t>HTML/CSS  •  JavaScript  •  Bootstrap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6"/>
          <p:cNvSpPr/>
          <p:nvPr/>
        </p:nvSpPr>
        <p:spPr>
          <a:xfrm>
            <a:off x="320040" y="1783080"/>
            <a:ext cx="8502120" cy="684000"/>
          </a:xfrm>
          <a:prstGeom prst="rect">
            <a:avLst/>
          </a:prstGeom>
          <a:solidFill>
            <a:srgbClr val="22c55e">
              <a:alpha val="10000"/>
            </a:srgbClr>
          </a:solidFill>
          <a:ln w="12600">
            <a:solidFill>
              <a:srgbClr val="22c55e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1" name="Shape 7"/>
          <p:cNvSpPr/>
          <p:nvPr/>
        </p:nvSpPr>
        <p:spPr>
          <a:xfrm>
            <a:off x="320040" y="1783080"/>
            <a:ext cx="52920" cy="684000"/>
          </a:xfrm>
          <a:prstGeom prst="rect">
            <a:avLst/>
          </a:prstGeom>
          <a:solidFill>
            <a:srgbClr val="22c55e"/>
          </a:solidFill>
          <a:ln w="126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2" name="Text 8"/>
          <p:cNvSpPr/>
          <p:nvPr/>
        </p:nvSpPr>
        <p:spPr>
          <a:xfrm>
            <a:off x="502920" y="1783080"/>
            <a:ext cx="2009880" cy="6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22c55e"/>
                </a:solidFill>
                <a:latin typeface="Calibri"/>
                <a:ea typeface="DejaVu Sans"/>
              </a:rPr>
              <a:t>BACKEND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9"/>
          <p:cNvSpPr/>
          <p:nvPr/>
        </p:nvSpPr>
        <p:spPr>
          <a:xfrm>
            <a:off x="2560320" y="1783080"/>
            <a:ext cx="6124680" cy="6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761"/>
                </a:solidFill>
                <a:latin typeface="Calibri"/>
                <a:ea typeface="DejaVu Sans"/>
              </a:rPr>
              <a:t>Django   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10"/>
          <p:cNvSpPr/>
          <p:nvPr/>
        </p:nvSpPr>
        <p:spPr>
          <a:xfrm>
            <a:off x="320040" y="2606040"/>
            <a:ext cx="8502120" cy="684000"/>
          </a:xfrm>
          <a:prstGeom prst="rect">
            <a:avLst/>
          </a:prstGeom>
          <a:solidFill>
            <a:srgbClr val="f59e0b">
              <a:alpha val="10000"/>
            </a:srgbClr>
          </a:solidFill>
          <a:ln w="12600">
            <a:solidFill>
              <a:srgbClr val="f59e0b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5" name="Shape 11"/>
          <p:cNvSpPr/>
          <p:nvPr/>
        </p:nvSpPr>
        <p:spPr>
          <a:xfrm>
            <a:off x="320040" y="2606040"/>
            <a:ext cx="52920" cy="684000"/>
          </a:xfrm>
          <a:prstGeom prst="rect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6" name="Text 12"/>
          <p:cNvSpPr/>
          <p:nvPr/>
        </p:nvSpPr>
        <p:spPr>
          <a:xfrm>
            <a:off x="502920" y="2606040"/>
            <a:ext cx="2009880" cy="6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59e0b"/>
                </a:solidFill>
                <a:latin typeface="Calibri"/>
                <a:ea typeface="DejaVu Sans"/>
              </a:rPr>
              <a:t>BASE DE DONNÉES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3"/>
          <p:cNvSpPr/>
          <p:nvPr/>
        </p:nvSpPr>
        <p:spPr>
          <a:xfrm>
            <a:off x="2560320" y="2606040"/>
            <a:ext cx="6124680" cy="6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761"/>
                </a:solidFill>
                <a:latin typeface="Calibri"/>
                <a:ea typeface="DejaVu Sans"/>
              </a:rPr>
              <a:t>SQLite3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14"/>
          <p:cNvSpPr/>
          <p:nvPr/>
        </p:nvSpPr>
        <p:spPr>
          <a:xfrm>
            <a:off x="320040" y="3429000"/>
            <a:ext cx="8502120" cy="684000"/>
          </a:xfrm>
          <a:prstGeom prst="rect">
            <a:avLst/>
          </a:prstGeom>
          <a:solidFill>
            <a:srgbClr val="9333ea">
              <a:alpha val="10000"/>
            </a:srgbClr>
          </a:solidFill>
          <a:ln w="12600">
            <a:solidFill>
              <a:srgbClr val="9333ea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9" name="Shape 15"/>
          <p:cNvSpPr/>
          <p:nvPr/>
        </p:nvSpPr>
        <p:spPr>
          <a:xfrm>
            <a:off x="320040" y="3429000"/>
            <a:ext cx="52920" cy="684000"/>
          </a:xfrm>
          <a:prstGeom prst="rect">
            <a:avLst/>
          </a:prstGeom>
          <a:solidFill>
            <a:srgbClr val="9333ea"/>
          </a:solidFill>
          <a:ln w="12600">
            <a:solidFill>
              <a:srgbClr val="9333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0" name="Text 16"/>
          <p:cNvSpPr/>
          <p:nvPr/>
        </p:nvSpPr>
        <p:spPr>
          <a:xfrm>
            <a:off x="502920" y="3429000"/>
            <a:ext cx="2009880" cy="6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9333ea"/>
                </a:solidFill>
                <a:latin typeface="Calibri"/>
                <a:ea typeface="DejaVu Sans"/>
              </a:rPr>
              <a:t>Modèle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17"/>
          <p:cNvSpPr/>
          <p:nvPr/>
        </p:nvSpPr>
        <p:spPr>
          <a:xfrm>
            <a:off x="2560320" y="3429000"/>
            <a:ext cx="6124680" cy="6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2761"/>
                </a:solidFill>
                <a:latin typeface="Calibri"/>
                <a:ea typeface="DejaVu Sans"/>
              </a:rPr>
              <a:t>Modèle &lt;-----→ View &lt;----&gt;Template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19"/>
          <p:cNvSpPr/>
          <p:nvPr/>
        </p:nvSpPr>
        <p:spPr>
          <a:xfrm>
            <a:off x="777240" y="4343400"/>
            <a:ext cx="24670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3" name="Text 21"/>
          <p:cNvSpPr/>
          <p:nvPr/>
        </p:nvSpPr>
        <p:spPr>
          <a:xfrm>
            <a:off x="3611880" y="4343400"/>
            <a:ext cx="24670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4" name="Text 23"/>
          <p:cNvSpPr/>
          <p:nvPr/>
        </p:nvSpPr>
        <p:spPr>
          <a:xfrm>
            <a:off x="6446520" y="4343400"/>
            <a:ext cx="24670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3"/>
          <p:cNvSpPr/>
          <p:nvPr/>
        </p:nvSpPr>
        <p:spPr>
          <a:xfrm>
            <a:off x="0" y="0"/>
            <a:ext cx="9142200" cy="775440"/>
          </a:xfrm>
          <a:prstGeom prst="rect">
            <a:avLst/>
          </a:prstGeom>
          <a:solidFill>
            <a:srgbClr val="1e2761"/>
          </a:solidFill>
          <a:ln w="126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6" name="Text 10"/>
          <p:cNvSpPr/>
          <p:nvPr/>
        </p:nvSpPr>
        <p:spPr>
          <a:xfrm>
            <a:off x="365760" y="0"/>
            <a:ext cx="822780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04  |  Démonstration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43"/>
          <p:cNvSpPr/>
          <p:nvPr/>
        </p:nvSpPr>
        <p:spPr>
          <a:xfrm>
            <a:off x="777240" y="4343400"/>
            <a:ext cx="24670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8" name="Text 44"/>
          <p:cNvSpPr/>
          <p:nvPr/>
        </p:nvSpPr>
        <p:spPr>
          <a:xfrm>
            <a:off x="3611880" y="4343400"/>
            <a:ext cx="24670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9" name="Text 45"/>
          <p:cNvSpPr/>
          <p:nvPr/>
        </p:nvSpPr>
        <p:spPr>
          <a:xfrm>
            <a:off x="6446520" y="4343400"/>
            <a:ext cx="24670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732240" y="1600200"/>
            <a:ext cx="7716960" cy="2473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5"/>
          <p:cNvSpPr/>
          <p:nvPr/>
        </p:nvSpPr>
        <p:spPr>
          <a:xfrm>
            <a:off x="0" y="0"/>
            <a:ext cx="9142200" cy="775440"/>
          </a:xfrm>
          <a:prstGeom prst="rect">
            <a:avLst/>
          </a:prstGeom>
          <a:solidFill>
            <a:srgbClr val="1e2761"/>
          </a:solidFill>
          <a:ln w="126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2" name="Text 2"/>
          <p:cNvSpPr/>
          <p:nvPr/>
        </p:nvSpPr>
        <p:spPr>
          <a:xfrm>
            <a:off x="365760" y="0"/>
            <a:ext cx="822780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05  |  Point fort et point faibles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37"/>
          <p:cNvSpPr/>
          <p:nvPr/>
        </p:nvSpPr>
        <p:spPr>
          <a:xfrm>
            <a:off x="777240" y="4343400"/>
            <a:ext cx="24670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4" name="Text 38"/>
          <p:cNvSpPr/>
          <p:nvPr/>
        </p:nvSpPr>
        <p:spPr>
          <a:xfrm>
            <a:off x="3611880" y="4343400"/>
            <a:ext cx="24670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5" name="Text 39"/>
          <p:cNvSpPr/>
          <p:nvPr/>
        </p:nvSpPr>
        <p:spPr>
          <a:xfrm>
            <a:off x="6446520" y="4343400"/>
            <a:ext cx="24670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6" name=""/>
          <p:cNvSpPr/>
          <p:nvPr/>
        </p:nvSpPr>
        <p:spPr>
          <a:xfrm>
            <a:off x="228600" y="914400"/>
            <a:ext cx="8456760" cy="1827360"/>
          </a:xfrm>
          <a:prstGeom prst="rect">
            <a:avLst/>
          </a:prstGeom>
          <a:solidFill>
            <a:srgbClr val="102c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Gestion rapide et fiable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Centralisation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Suivi en temps réel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Evolutif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228600" y="2971800"/>
            <a:ext cx="8456760" cy="1370160"/>
          </a:xfrm>
          <a:prstGeom prst="rect">
            <a:avLst/>
          </a:prstGeom>
          <a:solidFill>
            <a:srgbClr val="102c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Dépendance technique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Prise en main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2"/>
          <p:cNvSpPr/>
          <p:nvPr/>
        </p:nvSpPr>
        <p:spPr>
          <a:xfrm>
            <a:off x="0" y="0"/>
            <a:ext cx="9142200" cy="775440"/>
          </a:xfrm>
          <a:prstGeom prst="rect">
            <a:avLst/>
          </a:prstGeom>
          <a:solidFill>
            <a:srgbClr val="1e2761"/>
          </a:solidFill>
          <a:ln w="126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9" name="Text 11"/>
          <p:cNvSpPr/>
          <p:nvPr/>
        </p:nvSpPr>
        <p:spPr>
          <a:xfrm>
            <a:off x="365760" y="0"/>
            <a:ext cx="822780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06  |  Prochaîne étapes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18"/>
          <p:cNvSpPr/>
          <p:nvPr/>
        </p:nvSpPr>
        <p:spPr>
          <a:xfrm>
            <a:off x="777240" y="4343400"/>
            <a:ext cx="24670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1" name="Text 30"/>
          <p:cNvSpPr/>
          <p:nvPr/>
        </p:nvSpPr>
        <p:spPr>
          <a:xfrm>
            <a:off x="3611880" y="4343400"/>
            <a:ext cx="24670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2" name="Text 31"/>
          <p:cNvSpPr/>
          <p:nvPr/>
        </p:nvSpPr>
        <p:spPr>
          <a:xfrm>
            <a:off x="6446520" y="4343400"/>
            <a:ext cx="24670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3" name=""/>
          <p:cNvSpPr/>
          <p:nvPr/>
        </p:nvSpPr>
        <p:spPr>
          <a:xfrm>
            <a:off x="228600" y="914400"/>
            <a:ext cx="8456760" cy="1827360"/>
          </a:xfrm>
          <a:prstGeom prst="rect">
            <a:avLst/>
          </a:prstGeom>
          <a:solidFill>
            <a:srgbClr val="102c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Vision court terme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Améliorer l’interface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Ajout autres fonctionnalités (favoris, suivi des retards, …)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Offrir aux utilisateurs le contrôle total de leur compte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228600" y="2971800"/>
            <a:ext cx="8456760" cy="1827360"/>
          </a:xfrm>
          <a:prstGeom prst="rect">
            <a:avLst/>
          </a:prstGeom>
          <a:solidFill>
            <a:srgbClr val="102cb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Vision long terme: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Proposer des livres similaires quand un adhérent rend un livre qu'il a aimé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Recompenser les lecteurs qui a lu le plus  de livre à la fin de l'année scolaire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Recueillir les avis et suggestions des adhérents pour faire évoluer l'application selon leurs besoins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0"/>
          <p:cNvSpPr/>
          <p:nvPr/>
        </p:nvSpPr>
        <p:spPr>
          <a:xfrm>
            <a:off x="-914400" y="-914400"/>
            <a:ext cx="5484600" cy="5484600"/>
          </a:xfrm>
          <a:prstGeom prst="ellipse">
            <a:avLst/>
          </a:prstGeom>
          <a:solidFill>
            <a:srgbClr val="ffffff">
              <a:alpha val="7000"/>
            </a:srgbClr>
          </a:solidFill>
          <a:ln w="12600">
            <a:solidFill>
              <a:srgbClr val="ffffff">
                <a:alpha val="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6" name="Shape 1"/>
          <p:cNvSpPr/>
          <p:nvPr/>
        </p:nvSpPr>
        <p:spPr>
          <a:xfrm>
            <a:off x="5486400" y="1828800"/>
            <a:ext cx="4570200" cy="45702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600">
            <a:solidFill>
              <a:srgbClr val="ffffff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7" name="Shape 2"/>
          <p:cNvSpPr/>
          <p:nvPr/>
        </p:nvSpPr>
        <p:spPr>
          <a:xfrm>
            <a:off x="0" y="0"/>
            <a:ext cx="162720" cy="5141880"/>
          </a:xfrm>
          <a:prstGeom prst="rect">
            <a:avLst/>
          </a:prstGeom>
          <a:solidFill>
            <a:srgbClr val="4fc3f7"/>
          </a:solidFill>
          <a:ln w="126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8" name="Text 3"/>
          <p:cNvSpPr/>
          <p:nvPr/>
        </p:nvSpPr>
        <p:spPr>
          <a:xfrm>
            <a:off x="457200" y="822960"/>
            <a:ext cx="45702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fc3f7"/>
                </a:solidFill>
                <a:latin typeface="Calibri"/>
                <a:ea typeface="DejaVu Sans"/>
              </a:rPr>
              <a:t>CONCLUSION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4"/>
          <p:cNvSpPr/>
          <p:nvPr/>
        </p:nvSpPr>
        <p:spPr>
          <a:xfrm>
            <a:off x="457200" y="1188720"/>
            <a:ext cx="5941800" cy="16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Ce projet représente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une transformation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stratégique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5"/>
          <p:cNvSpPr/>
          <p:nvPr/>
        </p:nvSpPr>
        <p:spPr>
          <a:xfrm>
            <a:off x="457200" y="2926080"/>
            <a:ext cx="63990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DejaVu Sans"/>
              </a:rPr>
              <a:t>✓  </a:t>
            </a: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DejaVu Sans"/>
              </a:rPr>
              <a:t>Solution scalable et sécurisée adaptée à la croissance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6"/>
          <p:cNvSpPr/>
          <p:nvPr/>
        </p:nvSpPr>
        <p:spPr>
          <a:xfrm>
            <a:off x="457200" y="3291840"/>
            <a:ext cx="63990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DejaVu Sans"/>
              </a:rPr>
              <a:t>✓  </a:t>
            </a: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DejaVu Sans"/>
              </a:rPr>
              <a:t>Facilite la tâche des bibliothécaire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7"/>
          <p:cNvSpPr/>
          <p:nvPr/>
        </p:nvSpPr>
        <p:spPr>
          <a:xfrm>
            <a:off x="457200" y="3657600"/>
            <a:ext cx="63990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DejaVu Sans"/>
              </a:rPr>
              <a:t>✓  </a:t>
            </a: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DejaVu Sans"/>
              </a:rPr>
              <a:t>Rendre la consulation des livres faciles via la réservation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Shape 8"/>
          <p:cNvSpPr/>
          <p:nvPr/>
        </p:nvSpPr>
        <p:spPr>
          <a:xfrm>
            <a:off x="457200" y="4160520"/>
            <a:ext cx="2924280" cy="619920"/>
          </a:xfrm>
          <a:prstGeom prst="rect">
            <a:avLst/>
          </a:prstGeom>
          <a:solidFill>
            <a:srgbClr val="4fc3f7"/>
          </a:solidFill>
          <a:ln w="126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4" name="Text 9"/>
          <p:cNvSpPr/>
          <p:nvPr/>
        </p:nvSpPr>
        <p:spPr>
          <a:xfrm>
            <a:off x="457200" y="4160520"/>
            <a:ext cx="2924280" cy="6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761"/>
                </a:solidFill>
                <a:latin typeface="Calibri"/>
                <a:ea typeface="DejaVu Sans"/>
              </a:rPr>
              <a:t>Questions &amp; Discussion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Application>LibreOffice/24.2.7.2$Linux_X86_64 LibreOffice_project/420$Build-2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2026-05-16T13:32:20Z</dcterms:created>
  <dc:creator>PptxGenJS</dc:creator>
  <dc:description/>
  <dc:language>en-US</dc:language>
  <cp:lastModifiedBy/>
  <dcterms:modified xsi:type="dcterms:W3CDTF">2026-05-20T08:20:22Z</dcterms:modified>
  <cp:revision>15</cp:revision>
  <dc:subject>PptxGenJS Presentation</dc:subject>
  <dc:title>Présentation Projet Informatique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8</vt:r8>
  </property>
  <property fmtid="{D5CDD505-2E9C-101B-9397-08002B2CF9AE}" pid="3" name="PresentationFormat">
    <vt:lpwstr>On-screen Show (16:9)</vt:lpwstr>
  </property>
  <property fmtid="{D5CDD505-2E9C-101B-9397-08002B2CF9AE}" pid="4" name="Slides">
    <vt:r8>8</vt:r8>
  </property>
</Properties>
</file>